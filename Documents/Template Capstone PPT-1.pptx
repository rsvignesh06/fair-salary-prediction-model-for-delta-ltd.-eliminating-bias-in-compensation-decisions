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1" r:id="rId2"/>
    <p:sldId id="263" r:id="rId3"/>
    <p:sldId id="265" r:id="rId4"/>
    <p:sldId id="273" r:id="rId5"/>
    <p:sldId id="274" r:id="rId6"/>
    <p:sldId id="275" r:id="rId7"/>
    <p:sldId id="276" r:id="rId8"/>
    <p:sldId id="272" r:id="rId9"/>
    <p:sldId id="277" r:id="rId10"/>
    <p:sldId id="278" r:id="rId11"/>
    <p:sldId id="279" r:id="rId12"/>
    <p:sldId id="280" r:id="rId13"/>
    <p:sldId id="28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748" userDrawn="1">
          <p15:clr>
            <a:srgbClr val="A4A3A4"/>
          </p15:clr>
        </p15:guide>
        <p15:guide id="2" pos="16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001360"/>
    <a:srgbClr val="436FC1"/>
    <a:srgbClr val="A2A4A4"/>
    <a:srgbClr val="5999D3"/>
    <a:srgbClr val="254175"/>
    <a:srgbClr val="6D6868"/>
    <a:srgbClr val="005296"/>
    <a:srgbClr val="014D8E"/>
    <a:srgbClr val="0058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770"/>
    <p:restoredTop sz="96208"/>
  </p:normalViewPr>
  <p:slideViewPr>
    <p:cSldViewPr snapToGrid="0" snapToObjects="1" showGuides="1">
      <p:cViewPr>
        <p:scale>
          <a:sx n="66" d="100"/>
          <a:sy n="66" d="100"/>
        </p:scale>
        <p:origin x="422" y="418"/>
      </p:cViewPr>
      <p:guideLst>
        <p:guide orient="horz" pos="3748"/>
        <p:guide pos="16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5896B-F54D-CB4E-8E1F-E922CD2678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B9CB30-EEA7-6C48-BA49-131675470A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C9555-C9B4-D94D-A6AC-7000721C1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2BF8E-211B-9C43-825C-0671E50D7E39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E0B8D3-9A29-B64E-B444-0F0A1CB16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5229D4-3156-F845-AAA9-9F4AAF57E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FFDC9-3D54-674E-86E0-9C3C86728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5328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D2A24-3BCF-104F-B2B4-808FFA12F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9C088-CD2E-5547-B2FF-83C53C8343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CFA407-11D9-5947-BBF3-D9FAD7D34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2BF8E-211B-9C43-825C-0671E50D7E39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7F927-7DAC-9341-842B-0FD264B3B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25873C-CF74-1049-BA6C-9C81E0EE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FFDC9-3D54-674E-86E0-9C3C86728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5716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1A87C-251F-CB4D-AA3C-16067809D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1BE4E9-9A6A-714C-9DDC-E4500738C0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349ECF-C4D9-6E4A-840B-E852BB7D8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2BF8E-211B-9C43-825C-0671E50D7E39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FAB227-288D-904A-95BB-5BE988289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52B549-73B6-8C4B-B667-111ADF176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FFDC9-3D54-674E-86E0-9C3C86728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4153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57E6A-42EF-944F-A701-188B72DAC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11A28-F85A-CD49-95B6-8BDD3110BD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370336-DDE3-E147-AAC4-D175A5EE41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FC7F5-0F77-CC4E-A7F3-E09E89CD3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2BF8E-211B-9C43-825C-0671E50D7E39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3B59C2-A178-754D-898A-11EDEB4AD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372E9B-7AC7-E942-A5A8-7CF1D9F23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FFDC9-3D54-674E-86E0-9C3C86728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7385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9D4EE-9647-124A-A396-2CD164183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BC021-8473-1247-A0A3-6E92389A52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461C68-B174-6F42-A27E-E6DFD2819B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A13931-4430-B94E-B071-1A9E67B5CD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A3A001-AFF5-8242-A49C-787813881E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947992-8148-4B4B-88CE-1BD94B629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2BF8E-211B-9C43-825C-0671E50D7E39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778456-4CE9-8E47-A1D5-F506F16D8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D1E0FB-33FF-614D-A183-66470F06D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FFDC9-3D54-674E-86E0-9C3C86728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4673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BACE1-36CE-3A43-83D4-971EE0EFF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14C53A-F68C-C543-B6B1-7918BAF35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2BF8E-211B-9C43-825C-0671E50D7E39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0ACA56-584B-8249-9BAB-AD5093169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822BB5-F0BF-C94C-BF58-AFC822969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FFDC9-3D54-674E-86E0-9C3C86728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6222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5068E9B-E8B9-FD4D-B2B9-D4F02F0B2B31}"/>
              </a:ext>
            </a:extLst>
          </p:cNvPr>
          <p:cNvSpPr/>
          <p:nvPr userDrawn="1"/>
        </p:nvSpPr>
        <p:spPr>
          <a:xfrm>
            <a:off x="11328400" y="0"/>
            <a:ext cx="863600" cy="6858000"/>
          </a:xfrm>
          <a:prstGeom prst="rect">
            <a:avLst/>
          </a:prstGeom>
          <a:gradFill>
            <a:gsLst>
              <a:gs pos="37000">
                <a:srgbClr val="0070C0"/>
              </a:gs>
              <a:gs pos="100000">
                <a:srgbClr val="00B0F0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B40D476-EEF5-7540-AF03-C95B5E3ABB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7025" t="16383" r="11065" b="12297"/>
          <a:stretch/>
        </p:blipFill>
        <p:spPr>
          <a:xfrm>
            <a:off x="0" y="0"/>
            <a:ext cx="113284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4042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4B40D476-EEF5-7540-AF03-C95B5E3ABB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619" t="13182" r="3002" b="7575"/>
          <a:stretch/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3426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5068E9B-E8B9-FD4D-B2B9-D4F02F0B2B31}"/>
              </a:ext>
            </a:extLst>
          </p:cNvPr>
          <p:cNvSpPr/>
          <p:nvPr userDrawn="1"/>
        </p:nvSpPr>
        <p:spPr>
          <a:xfrm>
            <a:off x="11328400" y="0"/>
            <a:ext cx="863600" cy="6858000"/>
          </a:xfrm>
          <a:prstGeom prst="rect">
            <a:avLst/>
          </a:prstGeom>
          <a:gradFill>
            <a:gsLst>
              <a:gs pos="37000">
                <a:srgbClr val="0070C0"/>
              </a:gs>
              <a:gs pos="100000">
                <a:srgbClr val="00B0F0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3951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1F07356-A34D-4F4D-A489-BAAA1D2552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825" t="12803" r="7288" b="46015"/>
          <a:stretch/>
        </p:blipFill>
        <p:spPr>
          <a:xfrm>
            <a:off x="0" y="0"/>
            <a:ext cx="12192000" cy="361686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B503D70-FF35-A949-A3D8-E63C868F36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4686" t="451" r="7375" b="1"/>
          <a:stretch/>
        </p:blipFill>
        <p:spPr>
          <a:xfrm rot="20436793">
            <a:off x="-188402" y="2374729"/>
            <a:ext cx="13432426" cy="5601308"/>
          </a:xfrm>
          <a:custGeom>
            <a:avLst/>
            <a:gdLst>
              <a:gd name="connsiteX0" fmla="*/ 12359125 w 13432426"/>
              <a:gd name="connsiteY0" fmla="*/ 0 h 5601308"/>
              <a:gd name="connsiteX1" fmla="*/ 13432426 w 13432426"/>
              <a:gd name="connsiteY1" fmla="*/ 377691 h 5601308"/>
              <a:gd name="connsiteX2" fmla="*/ 13432426 w 13432426"/>
              <a:gd name="connsiteY2" fmla="*/ 778593 h 5601308"/>
              <a:gd name="connsiteX3" fmla="*/ 11735330 w 13432426"/>
              <a:gd name="connsiteY3" fmla="*/ 5601308 h 5601308"/>
              <a:gd name="connsiteX4" fmla="*/ 9605975 w 13432426"/>
              <a:gd name="connsiteY4" fmla="*/ 5601308 h 5601308"/>
              <a:gd name="connsiteX5" fmla="*/ 0 w 13432426"/>
              <a:gd name="connsiteY5" fmla="*/ 2221001 h 5601308"/>
              <a:gd name="connsiteX6" fmla="*/ 781562 w 13432426"/>
              <a:gd name="connsiteY6" fmla="*/ 0 h 5601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432426" h="5601308">
                <a:moveTo>
                  <a:pt x="12359125" y="0"/>
                </a:moveTo>
                <a:lnTo>
                  <a:pt x="13432426" y="377691"/>
                </a:lnTo>
                <a:lnTo>
                  <a:pt x="13432426" y="778593"/>
                </a:lnTo>
                <a:lnTo>
                  <a:pt x="11735330" y="5601308"/>
                </a:lnTo>
                <a:lnTo>
                  <a:pt x="9605975" y="5601308"/>
                </a:lnTo>
                <a:lnTo>
                  <a:pt x="0" y="2221001"/>
                </a:lnTo>
                <a:lnTo>
                  <a:pt x="781562" y="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5936068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5068E9B-E8B9-FD4D-B2B9-D4F02F0B2B31}"/>
              </a:ext>
            </a:extLst>
          </p:cNvPr>
          <p:cNvSpPr/>
          <p:nvPr userDrawn="1"/>
        </p:nvSpPr>
        <p:spPr>
          <a:xfrm>
            <a:off x="11328400" y="0"/>
            <a:ext cx="863600" cy="6858000"/>
          </a:xfrm>
          <a:prstGeom prst="rect">
            <a:avLst/>
          </a:prstGeom>
          <a:gradFill>
            <a:gsLst>
              <a:gs pos="37000">
                <a:srgbClr val="0070C0"/>
              </a:gs>
              <a:gs pos="100000">
                <a:srgbClr val="00B0F0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18BA7AC-F33E-C740-BF8D-F8385FEFA6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7025" t="16383" r="11065" b="12297"/>
          <a:stretch/>
        </p:blipFill>
        <p:spPr>
          <a:xfrm>
            <a:off x="0" y="0"/>
            <a:ext cx="11328400" cy="685800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D2832F23-5F8E-C24A-924C-295E5E3C0658}"/>
              </a:ext>
            </a:extLst>
          </p:cNvPr>
          <p:cNvSpPr/>
          <p:nvPr userDrawn="1"/>
        </p:nvSpPr>
        <p:spPr>
          <a:xfrm>
            <a:off x="10778066" y="5338233"/>
            <a:ext cx="1130300" cy="11303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12700" dir="2580000" sx="104000" sy="104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94B41FC5-8BC2-BB44-AC5B-4D88A063552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62216" y="5520267"/>
            <a:ext cx="762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6437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5068E9B-E8B9-FD4D-B2B9-D4F02F0B2B31}"/>
              </a:ext>
            </a:extLst>
          </p:cNvPr>
          <p:cNvSpPr/>
          <p:nvPr userDrawn="1"/>
        </p:nvSpPr>
        <p:spPr>
          <a:xfrm>
            <a:off x="11328400" y="0"/>
            <a:ext cx="863600" cy="6858000"/>
          </a:xfrm>
          <a:prstGeom prst="rect">
            <a:avLst/>
          </a:prstGeom>
          <a:gradFill>
            <a:gsLst>
              <a:gs pos="37000">
                <a:srgbClr val="0070C0"/>
              </a:gs>
              <a:gs pos="100000">
                <a:srgbClr val="00B0F0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2832F23-5F8E-C24A-924C-295E5E3C0658}"/>
              </a:ext>
            </a:extLst>
          </p:cNvPr>
          <p:cNvSpPr/>
          <p:nvPr userDrawn="1"/>
        </p:nvSpPr>
        <p:spPr>
          <a:xfrm>
            <a:off x="10778066" y="5338233"/>
            <a:ext cx="1130300" cy="11303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12700" dir="2580000" sx="104000" sy="104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94B41FC5-8BC2-BB44-AC5B-4D88A06355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62216" y="5520267"/>
            <a:ext cx="762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5646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31018-2976-AA49-A740-DDC5D6D70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3960F-3B9D-134F-920F-56EC4DE58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99E991-8828-2049-9393-950FD703A1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ED5707-B915-DA47-9178-0C1ABADB0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2BF8E-211B-9C43-825C-0671E50D7E39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64392B-A7E4-D143-BD60-F9538421A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351E37-109A-B343-B780-F7233ACAF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FFDC9-3D54-674E-86E0-9C3C86728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7017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22277-4EFA-E743-8BB3-E6C403E66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2D57E5-3218-D44D-89DB-D869107F77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0F2D83-EAB4-CA44-A7F7-C18A4A7153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85B392-C1F3-764E-9AA3-457044F12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2BF8E-211B-9C43-825C-0671E50D7E39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54A54A-FF07-7C48-999A-67D71B4B0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48022A-1337-0B44-AEA8-E4615BE3D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FFDC9-3D54-674E-86E0-9C3C86728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9588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33C27-9C65-3E45-873D-7188A5407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668386-7936-D842-93AB-FC92510A5C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951898-E20A-7241-B4F6-77B54730E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2BF8E-211B-9C43-825C-0671E50D7E39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C5934C-A9FF-B24C-8179-DD4A08F83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2683F-F7E4-5848-A263-3A612EE69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FFDC9-3D54-674E-86E0-9C3C86728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8805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D2FD4F-C622-364D-BAB7-1FCE29216D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06E67C-1202-244C-8382-954898328A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55452-BB22-FC4D-B6DC-D4C0270D6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2BF8E-211B-9C43-825C-0671E50D7E39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DABA5-026E-9641-AAB0-00A2093D8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8273DA-7F7F-9343-A113-D4F5DF98B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FFDC9-3D54-674E-86E0-9C3C86728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1688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80D5B3-FA64-FD40-A370-F37EF9C6C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717060-FA86-7942-99EC-88B397F155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9D0105-0DFD-3F40-AA87-1642704DF0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82BF8E-211B-9C43-825C-0671E50D7E39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3CF04-95E7-7144-8A2B-1D7ADE9274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88691-866E-CF46-9919-541469EDC6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4FFDC9-3D54-674E-86E0-9C3C86728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359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77" r:id="rId8"/>
    <p:sldLayoutId id="2147483673" r:id="rId9"/>
    <p:sldLayoutId id="2147483675" r:id="rId10"/>
    <p:sldLayoutId id="2147483674" r:id="rId11"/>
    <p:sldLayoutId id="2147483676" r:id="rId12"/>
    <p:sldLayoutId id="2147483668" r:id="rId13"/>
    <p:sldLayoutId id="2147483669" r:id="rId14"/>
    <p:sldLayoutId id="2147483670" r:id="rId15"/>
    <p:sldLayoutId id="2147483671" r:id="rId16"/>
  </p:sldLayoutIdLst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0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F8621ED-814E-F441-93A2-B7DC230A7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19" y="595020"/>
            <a:ext cx="3021463" cy="590312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E9603C88-C7BE-BE87-AB01-D9AE27CFCFF4}"/>
              </a:ext>
            </a:extLst>
          </p:cNvPr>
          <p:cNvGrpSpPr/>
          <p:nvPr/>
        </p:nvGrpSpPr>
        <p:grpSpPr>
          <a:xfrm>
            <a:off x="315455" y="2135229"/>
            <a:ext cx="6634528" cy="2126879"/>
            <a:chOff x="2745386" y="1552266"/>
            <a:chExt cx="8703275" cy="2126879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DF890AA6-3288-7A41-9F48-31D099259D5C}"/>
                </a:ext>
              </a:extLst>
            </p:cNvPr>
            <p:cNvSpPr txBox="1"/>
            <p:nvPr/>
          </p:nvSpPr>
          <p:spPr>
            <a:xfrm>
              <a:off x="2745386" y="1904515"/>
              <a:ext cx="870327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rgbClr val="001360"/>
                  </a:solidFill>
                  <a:latin typeface="Times New Roman" panose="02020603050405020304" pitchFamily="18" charset="0"/>
                  <a:ea typeface="Verdana" panose="020B0604030504040204" pitchFamily="34" charset="0"/>
                  <a:cs typeface="Times New Roman" panose="02020603050405020304" pitchFamily="18" charset="0"/>
                </a:rPr>
                <a:t>Salary Prediction for Delta Ltd.</a:t>
              </a:r>
              <a:endParaRPr lang="en-US" sz="4000" b="1" dirty="0">
                <a:solidFill>
                  <a:srgbClr val="00136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A856F42-636F-C3B1-0805-3923D9A80E85}"/>
                </a:ext>
              </a:extLst>
            </p:cNvPr>
            <p:cNvSpPr txBox="1"/>
            <p:nvPr/>
          </p:nvSpPr>
          <p:spPr>
            <a:xfrm>
              <a:off x="2745386" y="1552266"/>
              <a:ext cx="870327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ea typeface="Verdana" panose="020B0604030504040204" pitchFamily="34" charset="0"/>
                  <a:cs typeface="Times New Roman" panose="02020603050405020304" pitchFamily="18" charset="0"/>
                </a:rPr>
                <a:t>Title:</a:t>
              </a:r>
              <a:endPara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5F7C660-BCEA-76FD-4ED0-8D59C71BDE2A}"/>
                </a:ext>
              </a:extLst>
            </p:cNvPr>
            <p:cNvSpPr txBox="1"/>
            <p:nvPr/>
          </p:nvSpPr>
          <p:spPr>
            <a:xfrm>
              <a:off x="2745386" y="2971259"/>
              <a:ext cx="870327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rgbClr val="001360"/>
                  </a:solidFill>
                  <a:latin typeface="Times New Roman" panose="02020603050405020304" pitchFamily="18" charset="0"/>
                  <a:ea typeface="Verdana" panose="020B0604030504040204" pitchFamily="34" charset="0"/>
                  <a:cs typeface="Times New Roman" panose="02020603050405020304" pitchFamily="18" charset="0"/>
                </a:rPr>
                <a:t>Saran Vignesh R</a:t>
              </a:r>
              <a:endParaRPr lang="en-US" sz="4000" b="1" dirty="0">
                <a:solidFill>
                  <a:srgbClr val="00136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ECB65AA-81A5-091E-3584-AD1A0E5A7FBB}"/>
                </a:ext>
              </a:extLst>
            </p:cNvPr>
            <p:cNvSpPr txBox="1"/>
            <p:nvPr/>
          </p:nvSpPr>
          <p:spPr>
            <a:xfrm>
              <a:off x="2745386" y="2619010"/>
              <a:ext cx="870327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ea typeface="Verdana" panose="020B0604030504040204" pitchFamily="34" charset="0"/>
                  <a:cs typeface="Times New Roman" panose="02020603050405020304" pitchFamily="18" charset="0"/>
                </a:rPr>
                <a:t>By:</a:t>
              </a:r>
              <a:endPara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1026" name="Picture 2" descr="The 2023 Digital Marketing Salary Guide is here">
            <a:extLst>
              <a:ext uri="{FF2B5EF4-FFF2-40B4-BE49-F238E27FC236}">
                <a16:creationId xmlns:a16="http://schemas.microsoft.com/office/drawing/2014/main" id="{DC7719D6-F032-2147-80BD-513E5E3162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39375" y1="34537" x2="39375" y2="34537"/>
                        <a14:foregroundMark x1="39375" y1="32130" x2="43177" y2="27685"/>
                        <a14:foregroundMark x1="45313" y1="24907" x2="50885" y2="22222"/>
                        <a14:foregroundMark x1="55469" y1="43704" x2="55469" y2="43704"/>
                        <a14:foregroundMark x1="31510" y1="72407" x2="31510" y2="72407"/>
                        <a14:foregroundMark x1="30521" y1="71389" x2="30521" y2="71389"/>
                        <a14:foregroundMark x1="83698" y1="30741" x2="83698" y2="30741"/>
                        <a14:foregroundMark x1="85260" y1="29722" x2="85260" y2="29722"/>
                        <a14:backgroundMark x1="42240" y1="44074" x2="42240" y2="44074"/>
                        <a14:backgroundMark x1="43177" y1="53981" x2="43177" y2="53981"/>
                        <a14:backgroundMark x1="43177" y1="46759" x2="43177" y2="57037"/>
                        <a14:backgroundMark x1="48177" y1="43056" x2="48177" y2="43056"/>
                        <a14:backgroundMark x1="50885" y1="42130" x2="50885" y2="42130"/>
                        <a14:backgroundMark x1="50521" y1="55556" x2="50521" y2="55556"/>
                        <a14:backgroundMark x1="53646" y1="55278" x2="53646" y2="55278"/>
                        <a14:backgroundMark x1="52917" y1="52500" x2="52917" y2="52500"/>
                        <a14:backgroundMark x1="84375" y1="29444" x2="84375" y2="294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2215" y="1230045"/>
            <a:ext cx="4859908" cy="2733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22742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902C64F-B802-E343-B318-70D330A9A3FE}"/>
              </a:ext>
            </a:extLst>
          </p:cNvPr>
          <p:cNvSpPr/>
          <p:nvPr/>
        </p:nvSpPr>
        <p:spPr>
          <a:xfrm>
            <a:off x="195949" y="432102"/>
            <a:ext cx="9327879" cy="707886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en-IN" sz="4000" dirty="0">
                <a:solidFill>
                  <a:srgbClr val="0070C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 Business Problem</a:t>
            </a:r>
            <a:endParaRPr lang="en-US" sz="4000" b="1" dirty="0">
              <a:solidFill>
                <a:srgbClr val="0070C0"/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4B8933-F44C-374A-B677-D79AD8184284}"/>
              </a:ext>
            </a:extLst>
          </p:cNvPr>
          <p:cNvSpPr txBox="1"/>
          <p:nvPr/>
        </p:nvSpPr>
        <p:spPr>
          <a:xfrm>
            <a:off x="195949" y="1270597"/>
            <a:ext cx="100734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400" indent="0">
              <a:buNone/>
            </a:pPr>
            <a:r>
              <a:rPr lang="en-IN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24909A-D03F-277F-77ED-D185DA2EE6B6}"/>
              </a:ext>
            </a:extLst>
          </p:cNvPr>
          <p:cNvSpPr txBox="1"/>
          <p:nvPr/>
        </p:nvSpPr>
        <p:spPr>
          <a:xfrm>
            <a:off x="625151" y="1793817"/>
            <a:ext cx="97691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build a fair and accurate salary prediction model using employee attributes, minimizing human bias.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E9502D-4D3B-4CD5-AF73-5A041AD0BBA6}"/>
              </a:ext>
            </a:extLst>
          </p:cNvPr>
          <p:cNvSpPr txBox="1"/>
          <p:nvPr/>
        </p:nvSpPr>
        <p:spPr>
          <a:xfrm>
            <a:off x="195949" y="2501703"/>
            <a:ext cx="100734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400" indent="0">
              <a:buNone/>
            </a:pPr>
            <a:r>
              <a:rPr lang="en-IN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Business Need: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E1E7E5-A8B6-8F3E-A31E-684760A9AC4A}"/>
              </a:ext>
            </a:extLst>
          </p:cNvPr>
          <p:cNvSpPr txBox="1"/>
          <p:nvPr/>
        </p:nvSpPr>
        <p:spPr>
          <a:xfrm>
            <a:off x="625151" y="3008027"/>
            <a:ext cx="97691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Delta Ltd. wants to ensure fair compensation by aligning predicted salaries with role, experience, and performance.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3419FB-D5A8-03F1-0D91-1EFCEF03E160}"/>
              </a:ext>
            </a:extLst>
          </p:cNvPr>
          <p:cNvSpPr txBox="1"/>
          <p:nvPr/>
        </p:nvSpPr>
        <p:spPr>
          <a:xfrm>
            <a:off x="195949" y="3715913"/>
            <a:ext cx="100734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400" indent="0">
              <a:buNone/>
            </a:pPr>
            <a:r>
              <a:rPr lang="en-IN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Constraints: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80AC98-9C1D-249B-28AD-EA22049F59F4}"/>
              </a:ext>
            </a:extLst>
          </p:cNvPr>
          <p:cNvSpPr txBox="1"/>
          <p:nvPr/>
        </p:nvSpPr>
        <p:spPr>
          <a:xfrm>
            <a:off x="625151" y="4222237"/>
            <a:ext cx="976915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Eliminate discrimination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missing/inconsistent data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accuracy required for production deployment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40367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902C64F-B802-E343-B318-70D330A9A3FE}"/>
              </a:ext>
            </a:extLst>
          </p:cNvPr>
          <p:cNvSpPr/>
          <p:nvPr/>
        </p:nvSpPr>
        <p:spPr>
          <a:xfrm>
            <a:off x="195949" y="442602"/>
            <a:ext cx="9116863" cy="707886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en-US" sz="4000" dirty="0">
                <a:solidFill>
                  <a:srgbClr val="0070C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Data Preparation Steps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4B8933-F44C-374A-B677-D79AD8184284}"/>
              </a:ext>
            </a:extLst>
          </p:cNvPr>
          <p:cNvSpPr txBox="1"/>
          <p:nvPr/>
        </p:nvSpPr>
        <p:spPr>
          <a:xfrm>
            <a:off x="494879" y="1794674"/>
            <a:ext cx="4871223" cy="3268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Handled missing values.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duplicates.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 data types.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Normalized inconsistent entries.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 for derived attributes.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Encoded categorical features.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Outlier treatment using IQR method.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A2BBB34-2883-154B-B588-CD7BD235E055}"/>
              </a:ext>
            </a:extLst>
          </p:cNvPr>
          <p:cNvSpPr/>
          <p:nvPr/>
        </p:nvSpPr>
        <p:spPr>
          <a:xfrm>
            <a:off x="1287519" y="5148306"/>
            <a:ext cx="1019742" cy="10197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89D5F40-FD28-F442-905F-E871742D5041}"/>
              </a:ext>
            </a:extLst>
          </p:cNvPr>
          <p:cNvSpPr/>
          <p:nvPr/>
        </p:nvSpPr>
        <p:spPr>
          <a:xfrm>
            <a:off x="4585895" y="5148306"/>
            <a:ext cx="1019742" cy="10197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F277A7B-E5CC-8D42-B702-381586A72771}"/>
              </a:ext>
            </a:extLst>
          </p:cNvPr>
          <p:cNvSpPr txBox="1"/>
          <p:nvPr/>
        </p:nvSpPr>
        <p:spPr>
          <a:xfrm>
            <a:off x="7044316" y="2973773"/>
            <a:ext cx="269965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0070C0"/>
              </a:buClr>
            </a:pPr>
            <a:r>
              <a:rPr lang="en-IN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Subheading</a:t>
            </a:r>
          </a:p>
          <a:p>
            <a:pPr algn="ctr">
              <a:buClr>
                <a:srgbClr val="0070C0"/>
              </a:buClr>
            </a:pPr>
            <a:endParaRPr lang="en-IN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buClr>
                <a:srgbClr val="0070C0"/>
              </a:buClr>
            </a:pP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 is simply dummy text of the printing and typesetting industry.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662525D-2254-0CA2-81EF-0F5D4217C4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4684" y="1509012"/>
            <a:ext cx="6819797" cy="3839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6951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98ED84E-39D7-1546-E5A7-015D12050314}"/>
              </a:ext>
            </a:extLst>
          </p:cNvPr>
          <p:cNvSpPr/>
          <p:nvPr/>
        </p:nvSpPr>
        <p:spPr>
          <a:xfrm>
            <a:off x="195949" y="442602"/>
            <a:ext cx="9116863" cy="707886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en-US" sz="4000" dirty="0">
                <a:solidFill>
                  <a:srgbClr val="0070C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EDA - Target Variable (</a:t>
            </a:r>
            <a:r>
              <a:rPr lang="en-US" sz="4000" dirty="0" err="1">
                <a:solidFill>
                  <a:srgbClr val="0070C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Expected_CTC</a:t>
            </a:r>
            <a:r>
              <a:rPr lang="en-US" sz="4000" dirty="0">
                <a:solidFill>
                  <a:srgbClr val="0070C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1BDF6B5-A8B2-608B-D72A-09A8434AB8D8}"/>
              </a:ext>
            </a:extLst>
          </p:cNvPr>
          <p:cNvGrpSpPr/>
          <p:nvPr/>
        </p:nvGrpSpPr>
        <p:grpSpPr>
          <a:xfrm>
            <a:off x="195949" y="1821727"/>
            <a:ext cx="7545971" cy="3214545"/>
            <a:chOff x="195949" y="1945452"/>
            <a:chExt cx="7545971" cy="321454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4C3D752-3C9B-EB75-D5AC-3E53E92F1ABE}"/>
                </a:ext>
              </a:extLst>
            </p:cNvPr>
            <p:cNvSpPr txBox="1"/>
            <p:nvPr/>
          </p:nvSpPr>
          <p:spPr>
            <a:xfrm>
              <a:off x="195949" y="1945452"/>
              <a:ext cx="754597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5400" indent="0">
                <a:buNone/>
              </a:pPr>
              <a:r>
                <a:rPr lang="en-IN" sz="2800" b="1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Key Insight:</a:t>
              </a:r>
              <a:endPara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5D0B2DD-26F3-1DD7-00E7-4B900A30C80C}"/>
                </a:ext>
              </a:extLst>
            </p:cNvPr>
            <p:cNvSpPr txBox="1"/>
            <p:nvPr/>
          </p:nvSpPr>
          <p:spPr>
            <a:xfrm>
              <a:off x="517462" y="2468672"/>
              <a:ext cx="4889702" cy="960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algn="just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Target is </a:t>
              </a: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right-skewed</a:t>
              </a:r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with high variance.</a:t>
              </a:r>
            </a:p>
            <a:p>
              <a:pPr marL="342900" indent="-342900" algn="just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Salaries vary drastically depending on experience and role.</a:t>
              </a:r>
              <a:endParaRPr lang="en-I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FB8E761-C183-1F16-09F9-179238D4321A}"/>
                </a:ext>
              </a:extLst>
            </p:cNvPr>
            <p:cNvSpPr txBox="1"/>
            <p:nvPr/>
          </p:nvSpPr>
          <p:spPr>
            <a:xfrm>
              <a:off x="195949" y="3928891"/>
              <a:ext cx="754597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5400" indent="0">
                <a:buNone/>
              </a:pPr>
              <a:r>
                <a:rPr lang="en-IN" sz="2800" b="1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Action Taken:</a:t>
              </a:r>
              <a:endPara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CE82BA0-9601-D4FE-C3E4-894395C5FB56}"/>
                </a:ext>
              </a:extLst>
            </p:cNvPr>
            <p:cNvSpPr txBox="1"/>
            <p:nvPr/>
          </p:nvSpPr>
          <p:spPr>
            <a:xfrm>
              <a:off x="517462" y="4452111"/>
              <a:ext cx="488970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algn="just">
                <a:buFont typeface="Wingdings" panose="05000000000000000000" pitchFamily="2" charset="2"/>
                <a:buChar char="Ø"/>
              </a:pPr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Log transformation considered but model performed well without it.</a:t>
              </a:r>
              <a:endParaRPr lang="en-I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DAFD1F77-9177-8963-6EA4-FA8C55B36B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0837" y="1698003"/>
            <a:ext cx="5306165" cy="353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2849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69515-FFC1-0D28-9189-5091F7E97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89C2E4D-851B-7CF6-3A2D-9031E80C1DCB}"/>
              </a:ext>
            </a:extLst>
          </p:cNvPr>
          <p:cNvSpPr/>
          <p:nvPr/>
        </p:nvSpPr>
        <p:spPr>
          <a:xfrm>
            <a:off x="195949" y="442602"/>
            <a:ext cx="9116863" cy="707886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en-US" sz="4000" dirty="0">
                <a:solidFill>
                  <a:srgbClr val="0070C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EDA - Bivariate Relationships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8563DC-6CF0-64F6-074C-FBC4FEB37A5C}"/>
              </a:ext>
            </a:extLst>
          </p:cNvPr>
          <p:cNvSpPr txBox="1"/>
          <p:nvPr/>
        </p:nvSpPr>
        <p:spPr>
          <a:xfrm>
            <a:off x="195949" y="1821727"/>
            <a:ext cx="75459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400" indent="0">
              <a:buNone/>
            </a:pPr>
            <a:r>
              <a:rPr lang="en-IN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Findings: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E15334-CA3B-07AA-1D5E-472D5B049B49}"/>
              </a:ext>
            </a:extLst>
          </p:cNvPr>
          <p:cNvSpPr txBox="1"/>
          <p:nvPr/>
        </p:nvSpPr>
        <p:spPr>
          <a:xfrm>
            <a:off x="517462" y="2344947"/>
            <a:ext cx="5111178" cy="2345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correlation between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Expected_CTC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Salary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Appraisal Rating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 level and certifications play a moderate role.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BA49EAAC-9514-D149-1042-513A7722B6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8640" y="1350010"/>
            <a:ext cx="5564356" cy="4157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147114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20D10-2351-5314-9CD6-3DEC32CB5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8378B88-D89B-23E3-1482-E97C08DF0181}"/>
              </a:ext>
            </a:extLst>
          </p:cNvPr>
          <p:cNvSpPr/>
          <p:nvPr/>
        </p:nvSpPr>
        <p:spPr>
          <a:xfrm>
            <a:off x="195949" y="442602"/>
            <a:ext cx="9116863" cy="707886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en-US" sz="4000" dirty="0">
                <a:solidFill>
                  <a:srgbClr val="0070C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EDA - Categorical Drivers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491DAD-935E-98A1-6D8B-EF0B7BB362E8}"/>
              </a:ext>
            </a:extLst>
          </p:cNvPr>
          <p:cNvSpPr txBox="1"/>
          <p:nvPr/>
        </p:nvSpPr>
        <p:spPr>
          <a:xfrm>
            <a:off x="195949" y="1138315"/>
            <a:ext cx="75459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400" indent="0">
              <a:buNone/>
            </a:pPr>
            <a:r>
              <a:rPr lang="en-IN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Insights: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ABAE62-020D-1A2B-9E87-AF7467A5D61E}"/>
              </a:ext>
            </a:extLst>
          </p:cNvPr>
          <p:cNvSpPr txBox="1"/>
          <p:nvPr/>
        </p:nvSpPr>
        <p:spPr>
          <a:xfrm>
            <a:off x="517462" y="1568940"/>
            <a:ext cx="10384218" cy="1421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Senior roles (e.g. Manager, Director) drive higher CTC.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Candidates from specific industries (IT, Finance) have higher expected salary.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appraisal ratings and relevant certifications are associated with higher expected CTC.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4A444B-185B-D68F-4341-05EE6064EA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53" b="1"/>
          <a:stretch/>
        </p:blipFill>
        <p:spPr>
          <a:xfrm>
            <a:off x="1396250" y="3049930"/>
            <a:ext cx="8626642" cy="3721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1651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43D6C-B3CD-7458-BAA0-CFB3D5F69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5EA5F2-E79C-19B9-0A09-A6EA8E623E86}"/>
              </a:ext>
            </a:extLst>
          </p:cNvPr>
          <p:cNvSpPr/>
          <p:nvPr/>
        </p:nvSpPr>
        <p:spPr>
          <a:xfrm>
            <a:off x="195949" y="442602"/>
            <a:ext cx="9116863" cy="707886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en-US" sz="4000" dirty="0">
                <a:solidFill>
                  <a:srgbClr val="0070C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Modeling Approach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B0A249-52BF-87B5-6C0F-9EE28649D262}"/>
              </a:ext>
            </a:extLst>
          </p:cNvPr>
          <p:cNvSpPr txBox="1"/>
          <p:nvPr/>
        </p:nvSpPr>
        <p:spPr>
          <a:xfrm>
            <a:off x="195949" y="1138315"/>
            <a:ext cx="75459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400" indent="0">
              <a:buNone/>
            </a:pPr>
            <a:r>
              <a:rPr lang="en-IN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Train-Test Split: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59F4C2-3776-0534-B5CE-FE2A99F259EE}"/>
              </a:ext>
            </a:extLst>
          </p:cNvPr>
          <p:cNvSpPr txBox="1"/>
          <p:nvPr/>
        </p:nvSpPr>
        <p:spPr>
          <a:xfrm>
            <a:off x="517462" y="1568940"/>
            <a:ext cx="3498953" cy="498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80% training / 20% testing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C022BB-E1B1-B660-7010-017AE65F6208}"/>
              </a:ext>
            </a:extLst>
          </p:cNvPr>
          <p:cNvSpPr txBox="1"/>
          <p:nvPr/>
        </p:nvSpPr>
        <p:spPr>
          <a:xfrm>
            <a:off x="195949" y="2063193"/>
            <a:ext cx="75459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400" indent="0">
              <a:buNone/>
            </a:pPr>
            <a:r>
              <a:rPr lang="en-IN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Algorithms Tried: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C2CF27-75DE-E1A7-4659-807919260283}"/>
              </a:ext>
            </a:extLst>
          </p:cNvPr>
          <p:cNvSpPr txBox="1"/>
          <p:nvPr/>
        </p:nvSpPr>
        <p:spPr>
          <a:xfrm>
            <a:off x="517462" y="2493818"/>
            <a:ext cx="3498953" cy="2345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 Boosting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E24CF1-64C7-EF42-A1FF-18CDB75BBD27}"/>
              </a:ext>
            </a:extLst>
          </p:cNvPr>
          <p:cNvSpPr txBox="1"/>
          <p:nvPr/>
        </p:nvSpPr>
        <p:spPr>
          <a:xfrm>
            <a:off x="195949" y="4819902"/>
            <a:ext cx="75459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400" indent="0">
              <a:buNone/>
            </a:pPr>
            <a:r>
              <a:rPr lang="en-IN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Tuning: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E7A9B0-E4CB-1B63-C3B3-17FFF3503ADE}"/>
              </a:ext>
            </a:extLst>
          </p:cNvPr>
          <p:cNvSpPr txBox="1"/>
          <p:nvPr/>
        </p:nvSpPr>
        <p:spPr>
          <a:xfrm>
            <a:off x="517462" y="5250527"/>
            <a:ext cx="10384218" cy="498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RandomizedSearchCV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for hyperparameter optimization (for ensemble models)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100" name="Picture 4" descr="Understanding The Linear Regression!!!! | by Abhigyan | Analytics Vidhya |  Medium">
            <a:extLst>
              <a:ext uri="{FF2B5EF4-FFF2-40B4-BE49-F238E27FC236}">
                <a16:creationId xmlns:a16="http://schemas.microsoft.com/office/drawing/2014/main" id="{D72C59D8-6DC9-66CA-0204-0835EE8EC5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2500" y="795586"/>
            <a:ext cx="1453584" cy="1558920"/>
          </a:xfrm>
          <a:prstGeom prst="ellipse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056266B-BF6E-3683-01E6-395212C8A4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2889" y="3641461"/>
            <a:ext cx="1546916" cy="1556214"/>
          </a:xfrm>
          <a:prstGeom prst="ellipse">
            <a:avLst/>
          </a:prstGeom>
          <a:ln>
            <a:solidFill>
              <a:schemeClr val="tx1"/>
            </a:solidFill>
          </a:ln>
        </p:spPr>
      </p:pic>
      <p:pic>
        <p:nvPicPr>
          <p:cNvPr id="4104" name="Picture 8" descr="Anas Brital | Random Forest Algorithm Explained .">
            <a:extLst>
              <a:ext uri="{FF2B5EF4-FFF2-40B4-BE49-F238E27FC236}">
                <a16:creationId xmlns:a16="http://schemas.microsoft.com/office/drawing/2014/main" id="{3770562E-97C7-0722-C12F-3C07533355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4232" y="2515667"/>
            <a:ext cx="1546916" cy="1540365"/>
          </a:xfrm>
          <a:prstGeom prst="ellipse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Understanding Gradient Boosting. This is part three of the following… | by  Hemashreekilari | Medium">
            <a:extLst>
              <a:ext uri="{FF2B5EF4-FFF2-40B4-BE49-F238E27FC236}">
                <a16:creationId xmlns:a16="http://schemas.microsoft.com/office/drawing/2014/main" id="{F6184486-9205-1219-3FA2-6A4DC21F39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1881" y="2926812"/>
            <a:ext cx="1546916" cy="1552691"/>
          </a:xfrm>
          <a:prstGeom prst="ellipse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18C5746-69F3-BDDD-6106-38F147D997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5643" y="1711626"/>
            <a:ext cx="1546916" cy="1608083"/>
          </a:xfrm>
          <a:prstGeom prst="ellipse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7651576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AD5D530-8151-83E7-6A5D-47030F9DAF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11191"/>
              </p:ext>
            </p:extLst>
          </p:nvPr>
        </p:nvGraphicFramePr>
        <p:xfrm>
          <a:off x="525684" y="2040038"/>
          <a:ext cx="10515600" cy="146304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235741374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13340714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72926206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5593789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Test R²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Test RMSE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Test MAPE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7606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Random Forest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0.9994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27,587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0.0062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523864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Gradient Boosting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0.9993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30,134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0.0096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71095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 err="1"/>
                        <a:t>XGBoost</a:t>
                      </a:r>
                      <a:endParaRPr lang="en-IN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0.9994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28,631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0.0079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9049705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45AF236B-3903-C21C-D477-BCC92F0E3515}"/>
              </a:ext>
            </a:extLst>
          </p:cNvPr>
          <p:cNvSpPr/>
          <p:nvPr/>
        </p:nvSpPr>
        <p:spPr>
          <a:xfrm>
            <a:off x="195949" y="442602"/>
            <a:ext cx="9116863" cy="707886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en-US" sz="4000" dirty="0">
                <a:solidFill>
                  <a:srgbClr val="0070C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Summary of Modeling Results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8BFDD5-70BD-5BCA-A103-30CF7A65709C}"/>
              </a:ext>
            </a:extLst>
          </p:cNvPr>
          <p:cNvSpPr txBox="1"/>
          <p:nvPr/>
        </p:nvSpPr>
        <p:spPr>
          <a:xfrm>
            <a:off x="525684" y="3945856"/>
            <a:ext cx="10384218" cy="96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Model: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Tuned Random Forest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Balanced generalization, low error, interpretability.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37341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B91E9-ACFE-0F9F-D9D3-8E38C37A1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C792B961-C13E-89A6-B2C0-FD1139DBF0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4971184" y="1251826"/>
            <a:ext cx="5600306" cy="4795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71D8197-9A38-A04A-7D28-6D61EF52BD66}"/>
              </a:ext>
            </a:extLst>
          </p:cNvPr>
          <p:cNvSpPr/>
          <p:nvPr/>
        </p:nvSpPr>
        <p:spPr>
          <a:xfrm>
            <a:off x="195949" y="442602"/>
            <a:ext cx="9116863" cy="707886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en-US" sz="4000" dirty="0">
                <a:solidFill>
                  <a:srgbClr val="0070C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Best Model - Random Forest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B672DB-3B2E-4A4F-EB29-0E7777FFD809}"/>
              </a:ext>
            </a:extLst>
          </p:cNvPr>
          <p:cNvSpPr txBox="1"/>
          <p:nvPr/>
        </p:nvSpPr>
        <p:spPr>
          <a:xfrm>
            <a:off x="525685" y="1892090"/>
            <a:ext cx="4115764" cy="1883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Lowest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MSE: 761M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R²: 0.9994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balance of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generalization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D9092F-BC01-D848-B85E-A76C6BA00DCC}"/>
              </a:ext>
            </a:extLst>
          </p:cNvPr>
          <p:cNvSpPr txBox="1"/>
          <p:nvPr/>
        </p:nvSpPr>
        <p:spPr>
          <a:xfrm>
            <a:off x="195950" y="1468933"/>
            <a:ext cx="47235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400" indent="0">
              <a:buNone/>
            </a:pPr>
            <a:r>
              <a:rPr lang="en-IN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Why Random Forest?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4399CF-9920-D8F9-34DD-9135F8A9EC15}"/>
              </a:ext>
            </a:extLst>
          </p:cNvPr>
          <p:cNvSpPr txBox="1"/>
          <p:nvPr/>
        </p:nvSpPr>
        <p:spPr>
          <a:xfrm>
            <a:off x="525685" y="4264021"/>
            <a:ext cx="4393774" cy="96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overfitting detected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small gap in R² and MAPE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6A7BE7-274B-6549-70C3-C678FF8FF2AE}"/>
              </a:ext>
            </a:extLst>
          </p:cNvPr>
          <p:cNvSpPr txBox="1"/>
          <p:nvPr/>
        </p:nvSpPr>
        <p:spPr>
          <a:xfrm>
            <a:off x="195950" y="3765432"/>
            <a:ext cx="47235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400" indent="0">
              <a:buNone/>
            </a:pPr>
            <a:r>
              <a:rPr lang="en-IN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 vs Test Performance: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41308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63861-EE59-0A83-6C4A-25BC15410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8B0F7A3-E37C-9AF3-B49E-88B033F8F154}"/>
              </a:ext>
            </a:extLst>
          </p:cNvPr>
          <p:cNvSpPr/>
          <p:nvPr/>
        </p:nvSpPr>
        <p:spPr>
          <a:xfrm>
            <a:off x="195949" y="442602"/>
            <a:ext cx="10209692" cy="707886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en-US" sz="4000" dirty="0">
                <a:solidFill>
                  <a:srgbClr val="0070C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 Tuning &amp; Feature Importance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907613-ED9D-BA89-E146-31D4DF5CECBA}"/>
              </a:ext>
            </a:extLst>
          </p:cNvPr>
          <p:cNvSpPr txBox="1"/>
          <p:nvPr/>
        </p:nvSpPr>
        <p:spPr>
          <a:xfrm>
            <a:off x="855420" y="2396272"/>
            <a:ext cx="4393773" cy="1421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RandomizedSearchCV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Tuned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n_estimators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max_depth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min_samples_split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etc.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CE889F-9D84-08B8-60FB-AB89AB65CDD0}"/>
              </a:ext>
            </a:extLst>
          </p:cNvPr>
          <p:cNvSpPr txBox="1"/>
          <p:nvPr/>
        </p:nvSpPr>
        <p:spPr>
          <a:xfrm>
            <a:off x="525685" y="1892090"/>
            <a:ext cx="47235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400" indent="0">
              <a:buNone/>
            </a:pPr>
            <a:r>
              <a:rPr lang="en-IN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Tuning Approach: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B167CB8-9E83-0879-8487-523D8464048C}"/>
              </a:ext>
            </a:extLst>
          </p:cNvPr>
          <p:cNvGrpSpPr/>
          <p:nvPr/>
        </p:nvGrpSpPr>
        <p:grpSpPr>
          <a:xfrm>
            <a:off x="5578928" y="1892090"/>
            <a:ext cx="5209427" cy="2874591"/>
            <a:chOff x="195949" y="2866477"/>
            <a:chExt cx="5209427" cy="2874591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63EC435-AA5E-3D00-FFFE-671A1972E1B4}"/>
                </a:ext>
              </a:extLst>
            </p:cNvPr>
            <p:cNvSpPr txBox="1"/>
            <p:nvPr/>
          </p:nvSpPr>
          <p:spPr>
            <a:xfrm>
              <a:off x="525685" y="3395746"/>
              <a:ext cx="4393774" cy="23453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algn="just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Experience</a:t>
              </a:r>
            </a:p>
            <a:p>
              <a:pPr marL="342900" indent="-342900" algn="just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Current Salary</a:t>
              </a:r>
            </a:p>
            <a:p>
              <a:pPr marL="342900" indent="-342900" algn="just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Appraisal Rating</a:t>
              </a:r>
            </a:p>
            <a:p>
              <a:pPr marL="342900" indent="-342900" algn="just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Education Level</a:t>
              </a:r>
            </a:p>
            <a:p>
              <a:pPr marL="342900" indent="-342900" algn="just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Industry &amp; Role</a:t>
              </a:r>
              <a:endPara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4832D1C-309F-C1F6-6DA3-B11BD716BFA0}"/>
                </a:ext>
              </a:extLst>
            </p:cNvPr>
            <p:cNvSpPr txBox="1"/>
            <p:nvPr/>
          </p:nvSpPr>
          <p:spPr>
            <a:xfrm>
              <a:off x="195949" y="2866477"/>
              <a:ext cx="520942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5400" indent="0">
                <a:buNone/>
              </a:pPr>
              <a:r>
                <a:rPr lang="en-IN" sz="2800" b="1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Top Features (by importance):</a:t>
              </a:r>
              <a:endPara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9C6E8A9-34BE-B8C2-6AA5-6FB3D7525D81}"/>
              </a:ext>
            </a:extLst>
          </p:cNvPr>
          <p:cNvCxnSpPr/>
          <p:nvPr/>
        </p:nvCxnSpPr>
        <p:spPr>
          <a:xfrm>
            <a:off x="5416952" y="1551008"/>
            <a:ext cx="0" cy="3946967"/>
          </a:xfrm>
          <a:prstGeom prst="line">
            <a:avLst/>
          </a:prstGeom>
          <a:ln w="25400" cap="rnd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14719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4885A-57B9-4589-29EF-C67A6591B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FF6A31F-7991-DAE4-EECB-AF752F1D0052}"/>
              </a:ext>
            </a:extLst>
          </p:cNvPr>
          <p:cNvSpPr/>
          <p:nvPr/>
        </p:nvSpPr>
        <p:spPr>
          <a:xfrm>
            <a:off x="195949" y="442602"/>
            <a:ext cx="10209692" cy="707886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en-US" sz="4000" dirty="0">
                <a:solidFill>
                  <a:srgbClr val="0070C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Key Insights from EDA &amp; Modeling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25E350-D7E4-2D7D-688B-6918CD89C917}"/>
              </a:ext>
            </a:extLst>
          </p:cNvPr>
          <p:cNvSpPr txBox="1"/>
          <p:nvPr/>
        </p:nvSpPr>
        <p:spPr>
          <a:xfrm>
            <a:off x="855420" y="2396272"/>
            <a:ext cx="4393773" cy="1421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Seniority, experience, and current salary are top salary drivers.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Certifications and industry matter.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6FEA50-EA46-18D5-5B2A-580E950C8E54}"/>
              </a:ext>
            </a:extLst>
          </p:cNvPr>
          <p:cNvSpPr txBox="1"/>
          <p:nvPr/>
        </p:nvSpPr>
        <p:spPr>
          <a:xfrm>
            <a:off x="525685" y="1892090"/>
            <a:ext cx="47235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400" indent="0">
              <a:buNone/>
            </a:pPr>
            <a:r>
              <a:rPr lang="en-IN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EDA Insights: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FE074EC-FE78-C4BE-8DBF-320A20F20CF4}"/>
              </a:ext>
            </a:extLst>
          </p:cNvPr>
          <p:cNvGrpSpPr/>
          <p:nvPr/>
        </p:nvGrpSpPr>
        <p:grpSpPr>
          <a:xfrm>
            <a:off x="5578928" y="1892090"/>
            <a:ext cx="5209427" cy="2874591"/>
            <a:chOff x="195949" y="2866477"/>
            <a:chExt cx="5209427" cy="2874591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0A0FBAB-984C-3949-83B1-7559CBABC9D2}"/>
                </a:ext>
              </a:extLst>
            </p:cNvPr>
            <p:cNvSpPr txBox="1"/>
            <p:nvPr/>
          </p:nvSpPr>
          <p:spPr>
            <a:xfrm>
              <a:off x="525685" y="3395746"/>
              <a:ext cx="4393774" cy="23453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algn="just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Tree-based ensemble models consistently outperformed linear models.</a:t>
              </a:r>
            </a:p>
            <a:p>
              <a:pPr marL="342900" indent="-342900" algn="just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Features like appraisal rating and education were strong predictors.</a:t>
              </a:r>
              <a:endPara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068CFD0-2000-BDD4-DC66-FE28FF9D10ED}"/>
                </a:ext>
              </a:extLst>
            </p:cNvPr>
            <p:cNvSpPr txBox="1"/>
            <p:nvPr/>
          </p:nvSpPr>
          <p:spPr>
            <a:xfrm>
              <a:off x="195949" y="2866477"/>
              <a:ext cx="520942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5400" indent="0">
                <a:buNone/>
              </a:pPr>
              <a:r>
                <a:rPr lang="en-IN" sz="2800" b="1" dirty="0" err="1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Modeling</a:t>
              </a:r>
              <a:r>
                <a:rPr lang="en-IN" sz="2800" b="1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 Insights:</a:t>
              </a:r>
              <a:endPara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E09A97-A42B-45CE-AAFC-C1708766551A}"/>
              </a:ext>
            </a:extLst>
          </p:cNvPr>
          <p:cNvCxnSpPr/>
          <p:nvPr/>
        </p:nvCxnSpPr>
        <p:spPr>
          <a:xfrm>
            <a:off x="5416952" y="1551008"/>
            <a:ext cx="0" cy="3946967"/>
          </a:xfrm>
          <a:prstGeom prst="line">
            <a:avLst/>
          </a:prstGeom>
          <a:ln w="25400" cap="rnd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45489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2C932-94AF-2532-C4BD-05A10731E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E72A6E3-86BA-F7F0-070B-EBB94FE30FAD}"/>
              </a:ext>
            </a:extLst>
          </p:cNvPr>
          <p:cNvSpPr/>
          <p:nvPr/>
        </p:nvSpPr>
        <p:spPr>
          <a:xfrm>
            <a:off x="195949" y="442602"/>
            <a:ext cx="10209692" cy="707886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en-US" sz="4000" dirty="0">
                <a:solidFill>
                  <a:srgbClr val="0070C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Strategic Recommendations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9276FFF-F2A2-008F-AF07-2CE26858057E}"/>
              </a:ext>
            </a:extLst>
          </p:cNvPr>
          <p:cNvGrpSpPr/>
          <p:nvPr/>
        </p:nvGrpSpPr>
        <p:grpSpPr>
          <a:xfrm>
            <a:off x="525685" y="1625530"/>
            <a:ext cx="4723508" cy="2849504"/>
            <a:chOff x="525685" y="1892090"/>
            <a:chExt cx="4723508" cy="284950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F10B296-03AC-4CCC-1121-272FAF02EF06}"/>
                </a:ext>
              </a:extLst>
            </p:cNvPr>
            <p:cNvSpPr txBox="1"/>
            <p:nvPr/>
          </p:nvSpPr>
          <p:spPr>
            <a:xfrm>
              <a:off x="855420" y="2396272"/>
              <a:ext cx="4393773" cy="23453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algn="just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Attract high-talent profiles with strong appraisal ratings and relevant certifications.</a:t>
              </a:r>
            </a:p>
            <a:p>
              <a:pPr marL="342900" indent="-342900" algn="just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Salary variance justifies industry-specific benchmarks.</a:t>
              </a:r>
              <a:endPara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E31C4B0-893D-8B36-E561-CD0890249C6C}"/>
                </a:ext>
              </a:extLst>
            </p:cNvPr>
            <p:cNvSpPr txBox="1"/>
            <p:nvPr/>
          </p:nvSpPr>
          <p:spPr>
            <a:xfrm>
              <a:off x="525685" y="1892090"/>
              <a:ext cx="472350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5400" indent="0">
                <a:buNone/>
              </a:pPr>
              <a:r>
                <a:rPr lang="en-IN" sz="2800" b="1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From EDA:</a:t>
              </a:r>
              <a:endPara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EC52119C-0364-79E9-DF07-D7EDEE5E9792}"/>
              </a:ext>
            </a:extLst>
          </p:cNvPr>
          <p:cNvGrpSpPr/>
          <p:nvPr/>
        </p:nvGrpSpPr>
        <p:grpSpPr>
          <a:xfrm>
            <a:off x="5578928" y="1625530"/>
            <a:ext cx="5209427" cy="3797921"/>
            <a:chOff x="195949" y="2866477"/>
            <a:chExt cx="5209427" cy="3797921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B88D2BD-1584-1AB4-AE5A-F3367CB05824}"/>
                </a:ext>
              </a:extLst>
            </p:cNvPr>
            <p:cNvSpPr txBox="1"/>
            <p:nvPr/>
          </p:nvSpPr>
          <p:spPr>
            <a:xfrm>
              <a:off x="525685" y="3395746"/>
              <a:ext cx="4393774" cy="32686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algn="just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Embed model into HR systems for real-time, bias-free compensation prediction</a:t>
              </a:r>
            </a:p>
            <a:p>
              <a:pPr marL="342900" indent="-342900" algn="just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Use feature importance to guide internal training/upskilling programs</a:t>
              </a:r>
            </a:p>
            <a:p>
              <a:pPr marL="342900" indent="-342900" algn="just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Continuously monitor salary trends using model predictions</a:t>
              </a:r>
              <a:endPara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CD91A85-9C97-1759-05F8-54D286C571F6}"/>
                </a:ext>
              </a:extLst>
            </p:cNvPr>
            <p:cNvSpPr txBox="1"/>
            <p:nvPr/>
          </p:nvSpPr>
          <p:spPr>
            <a:xfrm>
              <a:off x="195949" y="2866477"/>
              <a:ext cx="520942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5400" indent="0">
                <a:buNone/>
              </a:pPr>
              <a:r>
                <a:rPr lang="en-IN" sz="2800" b="1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From </a:t>
              </a:r>
              <a:r>
                <a:rPr lang="en-IN" sz="2800" b="1" dirty="0" err="1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Modeling</a:t>
              </a:r>
              <a:r>
                <a:rPr lang="en-IN" sz="2800" b="1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  <a:endPara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844A126-212D-4069-71A7-EB1BC935D825}"/>
              </a:ext>
            </a:extLst>
          </p:cNvPr>
          <p:cNvCxnSpPr/>
          <p:nvPr/>
        </p:nvCxnSpPr>
        <p:spPr>
          <a:xfrm>
            <a:off x="5416952" y="1551008"/>
            <a:ext cx="0" cy="3946967"/>
          </a:xfrm>
          <a:prstGeom prst="line">
            <a:avLst/>
          </a:prstGeom>
          <a:ln w="25400" cap="rnd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38226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E1E9E-74B6-FD6F-1752-33B44862F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894E4FC-77BA-9F79-7A3C-DC42CEE491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19" y="595020"/>
            <a:ext cx="3021463" cy="59031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E074F01-0126-3CC3-B3C0-333E93BAA35E}"/>
              </a:ext>
            </a:extLst>
          </p:cNvPr>
          <p:cNvSpPr txBox="1"/>
          <p:nvPr/>
        </p:nvSpPr>
        <p:spPr>
          <a:xfrm>
            <a:off x="2352599" y="2511379"/>
            <a:ext cx="66345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00136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Thank You</a:t>
            </a:r>
            <a:endParaRPr lang="en-US" sz="4000" b="1" dirty="0">
              <a:solidFill>
                <a:srgbClr val="001360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85864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2205</TotalTime>
  <Words>501</Words>
  <Application>Microsoft Office PowerPoint</Application>
  <PresentationFormat>Widescreen</PresentationFormat>
  <Paragraphs>103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Wingdings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Rashmi P</dc:creator>
  <cp:lastModifiedBy>R SARAN VIGNESH</cp:lastModifiedBy>
  <cp:revision>76</cp:revision>
  <dcterms:created xsi:type="dcterms:W3CDTF">2019-12-31T09:37:22Z</dcterms:created>
  <dcterms:modified xsi:type="dcterms:W3CDTF">2025-05-01T11:50:50Z</dcterms:modified>
</cp:coreProperties>
</file>